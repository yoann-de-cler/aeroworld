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sz="24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sz="246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Dans le cadre d’une mission pour </a:t>
            </a:r>
            <a:r>
              <a:rPr lang="fr-FR" dirty="0" err="1">
                <a:latin typeface="Montserrat" panose="00000500000000000000" pitchFamily="2" charset="0"/>
              </a:rPr>
              <a:t>Aéroworld</a:t>
            </a:r>
            <a:r>
              <a:rPr lang="fr-FR" dirty="0">
                <a:latin typeface="Montserrat" panose="00000500000000000000" pitchFamily="2" charset="0"/>
              </a:rPr>
              <a:t>, acteur majeur de l’industrie aéronautique, ce projet vise à concevoir un portfolio professionnel de Data </a:t>
            </a:r>
            <a:r>
              <a:rPr lang="fr-FR" dirty="0" err="1">
                <a:latin typeface="Montserrat" panose="00000500000000000000" pitchFamily="2" charset="0"/>
              </a:rPr>
              <a:t>Analyst</a:t>
            </a:r>
            <a:r>
              <a:rPr lang="fr-FR" dirty="0">
                <a:latin typeface="Montserrat" panose="00000500000000000000" pitchFamily="2" charset="0"/>
              </a:rPr>
              <a:t>. Celui-ci doit démontrer la capacité à transformer une problématique métier en solution data complète, depuis l’analyse des besoins jusqu’à la production de tableaux de bord et de livrables de visualisation.</a:t>
            </a:r>
            <a:endParaRPr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Besoins de l’entreprise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Besoin de fiabiliser et centraliser l’information 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Améliorer la prise de décision grâce à la data</a:t>
            </a:r>
          </a:p>
          <a:p>
            <a:pPr marL="571500" lvl="1" indent="0"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Raison du besoin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Données dispersées et difficiles à exploiter </a:t>
            </a:r>
          </a:p>
          <a:p>
            <a:pPr marL="114300" indent="0"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 lvl="1"/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Objectif SMART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Concevoir un portfolio professionnel de Data </a:t>
            </a:r>
            <a:r>
              <a:rPr lang="fr-FR" dirty="0" err="1">
                <a:latin typeface="Montserrat" panose="00000500000000000000" pitchFamily="2" charset="0"/>
              </a:rPr>
              <a:t>Analyst</a:t>
            </a:r>
            <a:r>
              <a:rPr lang="fr-FR" dirty="0">
                <a:latin typeface="Montserrat" panose="00000500000000000000" pitchFamily="2" charset="0"/>
              </a:rPr>
              <a:t> permettant de démontrer les compétences en analyse de données, data visualisation et gestion de projet à travers la réalisation de livrables structurés</a:t>
            </a:r>
            <a:endParaRPr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516194" y="1825625"/>
            <a:ext cx="11282516" cy="478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1"/>
            <a:r>
              <a:rPr lang="fr-FR" sz="2900" dirty="0">
                <a:latin typeface="Montserrat" panose="00000500000000000000" pitchFamily="2" charset="0"/>
              </a:rPr>
              <a:t>Client (</a:t>
            </a:r>
            <a:r>
              <a:rPr lang="fr-FR" sz="2900" dirty="0" err="1">
                <a:latin typeface="Montserrat" panose="00000500000000000000" pitchFamily="2" charset="0"/>
              </a:rPr>
              <a:t>Aéroworld</a:t>
            </a:r>
            <a:r>
              <a:rPr lang="fr-FR" sz="2900" dirty="0">
                <a:latin typeface="Montserrat" panose="00000500000000000000" pitchFamily="2" charset="0"/>
              </a:rPr>
              <a:t>) - Définit le contexte métier, exprime les besoins liés au recrutement et les attentes en matière de compétences data.</a:t>
            </a:r>
          </a:p>
          <a:p>
            <a:pPr lvl="1"/>
            <a:endParaRPr lang="fr-FR" sz="2900" dirty="0">
              <a:latin typeface="Montserrat" panose="00000500000000000000" pitchFamily="2" charset="0"/>
            </a:endParaRPr>
          </a:p>
          <a:p>
            <a:pPr lvl="1"/>
            <a:r>
              <a:rPr lang="fr-FR" sz="2900" dirty="0">
                <a:latin typeface="Montserrat" panose="00000500000000000000" pitchFamily="2" charset="0"/>
              </a:rPr>
              <a:t>Consultant Data </a:t>
            </a:r>
            <a:r>
              <a:rPr lang="fr-FR" sz="2900" dirty="0" err="1">
                <a:latin typeface="Montserrat" panose="00000500000000000000" pitchFamily="2" charset="0"/>
              </a:rPr>
              <a:t>Analyst</a:t>
            </a:r>
            <a:r>
              <a:rPr lang="fr-FR" sz="2900" dirty="0">
                <a:latin typeface="Montserrat" panose="00000500000000000000" pitchFamily="2" charset="0"/>
              </a:rPr>
              <a:t> - Analyse le besoin métier, structure la démarche projet et produit les livrables (</a:t>
            </a:r>
            <a:r>
              <a:rPr lang="fr-FR" sz="2900" dirty="0" err="1">
                <a:latin typeface="Montserrat" panose="00000500000000000000" pitchFamily="2" charset="0"/>
              </a:rPr>
              <a:t>dashboards</a:t>
            </a:r>
            <a:r>
              <a:rPr lang="fr-FR" sz="2900" dirty="0">
                <a:latin typeface="Montserrat" panose="00000500000000000000" pitchFamily="2" charset="0"/>
              </a:rPr>
              <a:t>, documentation, Gantt et portfolio).</a:t>
            </a:r>
          </a:p>
          <a:p>
            <a:pPr lvl="1"/>
            <a:endParaRPr lang="fr-FR" sz="2900" dirty="0">
              <a:latin typeface="Montserrat" panose="00000500000000000000" pitchFamily="2" charset="0"/>
            </a:endParaRPr>
          </a:p>
          <a:p>
            <a:pPr lvl="1"/>
            <a:r>
              <a:rPr lang="fr-FR" sz="2900" dirty="0">
                <a:latin typeface="Montserrat" panose="00000500000000000000" pitchFamily="2" charset="0"/>
              </a:rPr>
              <a:t>Manager - Accompagne la progression du projet, apporte un regard critique et valide les différentes étapes méthodologiques.</a:t>
            </a:r>
          </a:p>
          <a:p>
            <a:pPr lvl="1"/>
            <a:endParaRPr lang="fr-FR" sz="2900" dirty="0">
              <a:latin typeface="Montserrat" panose="00000500000000000000" pitchFamily="2" charset="0"/>
            </a:endParaRPr>
          </a:p>
          <a:p>
            <a:pPr lvl="1"/>
            <a:r>
              <a:rPr lang="fr-FR" sz="2900" dirty="0">
                <a:latin typeface="Montserrat" panose="00000500000000000000" pitchFamily="2" charset="0"/>
              </a:rPr>
              <a:t>Utilisateurs finaux - Évaluent le portfolio afin d’apprécier la qualité de la démarche analytique, la pertinence des livrables et la posture professionnelle du candidat.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60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Principes ergonomiques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Organisation hiérarchique des contenus permettant une lecture rapide et structurée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Mise en avant des informations essentielles pour faciliter la compréhension des projets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Cohérence graphique et fonctionnelle sur l’ensemble des pages du portfolio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Conception responsive adaptée aux différents supports (desktop, tablette, </a:t>
            </a:r>
            <a:r>
              <a:rPr lang="fr-FR" dirty="0" err="1">
                <a:latin typeface="Montserrat" panose="00000500000000000000" pitchFamily="2" charset="0"/>
              </a:rPr>
              <a:t>mobilePrincipes</a:t>
            </a:r>
            <a:r>
              <a:rPr lang="fr-FR" dirty="0">
                <a:latin typeface="Montserrat" panose="00000500000000000000" pitchFamily="2" charset="0"/>
              </a:rPr>
              <a:t> d’expérience utilisateur (UX)</a:t>
            </a:r>
          </a:p>
          <a:p>
            <a:pPr lvl="1"/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Principes de navigations et UX design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Navigation simple et intuitive entre les différentes sections du portfolio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Parcours utilisateur structuré suivant une logique de découverte des projets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Interface épurée favorisant la lisibilité et la compréhension des contenus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Accès direct aux livrables, projets et visualisations de données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endParaRPr lang="fr-FR" dirty="0">
              <a:latin typeface="Montserrat" panose="00000500000000000000" pitchFamily="2" charset="0"/>
            </a:endParaRP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Liste des fonctionnalités qui vont être mise en place</a:t>
            </a: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Prise en compte du besoin client et de ses potentielles évolutions</a:t>
            </a:r>
          </a:p>
          <a:p>
            <a:pPr marL="1600200" lvl="2" indent="-457200">
              <a:spcAft>
                <a:spcPts val="1000"/>
              </a:spcAft>
            </a:pPr>
            <a:endParaRPr lang="fr-FR" dirty="0">
              <a:latin typeface="Montserrat" panose="00000500000000000000" pitchFamily="2" charset="0"/>
            </a:endParaRPr>
          </a:p>
          <a:p>
            <a:pPr marL="1143000" lvl="1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Prise en compte de la législation française et européenne (RGPD)</a:t>
            </a:r>
          </a:p>
          <a:p>
            <a:pPr marL="1600200" lvl="2" indent="-457200">
              <a:spcAft>
                <a:spcPts val="1000"/>
              </a:spcAft>
            </a:pPr>
            <a:r>
              <a:rPr lang="fr-FR" dirty="0">
                <a:latin typeface="Montserrat" panose="00000500000000000000" pitchFamily="2" charset="0"/>
              </a:rPr>
              <a:t>Pas de collecte ou de traitement de données personnelles</a:t>
            </a:r>
            <a:endParaRPr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Exemple de choix techniques pour le portfolio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Nom de l’hébergeur et nom du domaine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Types d’appareils et navigateurs compatibles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CMS et extensions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Pratiques en sécurité et sauvegarde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Respect du RGPD</a:t>
            </a:r>
          </a:p>
          <a:p>
            <a:pPr lvl="1"/>
            <a:endParaRPr lang="fr-FR" dirty="0">
              <a:latin typeface="Montserrat" panose="00000500000000000000" pitchFamily="2" charset="0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Contraintes à prendre en compte :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Temps 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Respect du planning défini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Budget 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</a:pPr>
            <a:endParaRPr lang="fr-FR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Règles fournies par le client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Mise en avant d’une posture de consultant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Présentation d’un portfolio réflexif et visuel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Chartes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Respect d'une identité visuelle cohérente sur l'ensemble du portfolio.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Demandes particulières 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endParaRPr lang="fr-FR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Référentiels qualité (</a:t>
            </a:r>
            <a:r>
              <a:rPr lang="fr-FR" dirty="0" err="1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Opquast</a:t>
            </a: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, W3C…)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Modalités de recettes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</a:pPr>
            <a:endParaRPr lang="fr-FR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fr-FR" dirty="0">
                <a:latin typeface="Montserrat" panose="00000500000000000000" pitchFamily="2" charset="0"/>
              </a:rPr>
              <a:t>KPI à suivre pour le bon déroulé du projet.</a:t>
            </a:r>
          </a:p>
          <a:p>
            <a:pPr marL="114300" indent="0">
              <a:buNone/>
            </a:pPr>
            <a:r>
              <a:rPr lang="fr-FR" dirty="0">
                <a:latin typeface="Montserrat" panose="00000500000000000000" pitchFamily="2" charset="0"/>
              </a:rPr>
              <a:t>1 au minimum dans chaque catégorie :</a:t>
            </a:r>
          </a:p>
          <a:p>
            <a:pPr marL="1085850" lvl="1" indent="-514350">
              <a:buAutoNum type="arabicPeriod"/>
            </a:pPr>
            <a:r>
              <a:rPr lang="fr-FR" dirty="0">
                <a:latin typeface="Montserrat" panose="00000500000000000000" pitchFamily="2" charset="0"/>
              </a:rPr>
              <a:t>Coût</a:t>
            </a:r>
          </a:p>
          <a:p>
            <a:pPr lvl="2"/>
            <a:r>
              <a:rPr lang="fr-FR" dirty="0">
                <a:latin typeface="Montserrat" panose="00000500000000000000" pitchFamily="2" charset="0"/>
              </a:rPr>
              <a:t>Budget consommé / Budget prévu</a:t>
            </a:r>
          </a:p>
          <a:p>
            <a:pPr marL="1085850" lvl="1" indent="-514350">
              <a:buAutoNum type="arabicPeriod"/>
            </a:pPr>
            <a:r>
              <a:rPr lang="fr-FR" dirty="0">
                <a:latin typeface="Montserrat" panose="00000500000000000000" pitchFamily="2" charset="0"/>
              </a:rPr>
              <a:t>Délais</a:t>
            </a:r>
          </a:p>
          <a:p>
            <a:pPr lvl="2"/>
            <a:r>
              <a:rPr lang="fr-FR" dirty="0">
                <a:latin typeface="Montserrat" panose="00000500000000000000" pitchFamily="2" charset="0"/>
              </a:rPr>
              <a:t>% d’avancement du projet</a:t>
            </a:r>
          </a:p>
          <a:p>
            <a:pPr marL="1085850" lvl="1" indent="-514350">
              <a:buAutoNum type="arabicPeriod"/>
            </a:pPr>
            <a:r>
              <a:rPr lang="fr-FR" dirty="0">
                <a:latin typeface="Montserrat" panose="00000500000000000000" pitchFamily="2" charset="0"/>
              </a:rPr>
              <a:t>Qualité</a:t>
            </a:r>
          </a:p>
          <a:p>
            <a:pPr lvl="2"/>
            <a:r>
              <a:rPr lang="fr-FR" dirty="0">
                <a:latin typeface="Montserrat" panose="00000500000000000000" pitchFamily="2" charset="0"/>
              </a:rPr>
              <a:t>Nombre de corrections identifiées avant validation du projet</a:t>
            </a:r>
          </a:p>
          <a:p>
            <a:pPr marL="1085850" lvl="1" indent="-514350">
              <a:buAutoNum type="arabicPeriod"/>
            </a:pPr>
            <a:r>
              <a:rPr lang="fr-FR" dirty="0">
                <a:latin typeface="Montserrat" panose="00000500000000000000" pitchFamily="2" charset="0"/>
              </a:rPr>
              <a:t>Efficacité et avancement du projet</a:t>
            </a:r>
          </a:p>
          <a:p>
            <a:pPr lvl="2"/>
            <a:r>
              <a:rPr lang="fr-FR" dirty="0">
                <a:latin typeface="Montserrat" panose="00000500000000000000" pitchFamily="2" charset="0"/>
              </a:rPr>
              <a:t>% livrables validés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Liste synthétique des dates clés du projet</a:t>
            </a:r>
          </a:p>
          <a:p>
            <a:pPr lvl="1"/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Cadrage =&gt; S1</a:t>
            </a:r>
          </a:p>
          <a:p>
            <a:pPr lvl="1"/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Conception =&gt; S2/S3</a:t>
            </a:r>
          </a:p>
          <a:p>
            <a:pPr lvl="1"/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Production =&gt;S3/S4</a:t>
            </a:r>
          </a:p>
          <a:p>
            <a:pPr lvl="1"/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Documentation =&gt;S4</a:t>
            </a:r>
          </a:p>
          <a:p>
            <a:pPr lvl="1"/>
            <a:r>
              <a:rPr lang="fr-FR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Finalisation =&gt;S4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Liste synthétique et coût des différentes catégories du devis</a:t>
            </a:r>
          </a:p>
          <a:p>
            <a:pPr lvl="1"/>
            <a:r>
              <a:rPr lang="fr-FR" dirty="0">
                <a:latin typeface="Montserrat" panose="00000500000000000000" pitchFamily="2" charset="0"/>
              </a:rPr>
              <a:t>RH, achats matériels et immatériels ainsi que la marge commerciale</a:t>
            </a:r>
          </a:p>
          <a:p>
            <a:pPr lvl="1"/>
            <a:endParaRPr lang="fr-FR" dirty="0"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Prix final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590</Words>
  <Application>Microsoft Office PowerPoint</Application>
  <PresentationFormat>Grand écran</PresentationFormat>
  <Paragraphs>98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Calibri</vt:lpstr>
      <vt:lpstr>Thème Office</vt:lpstr>
      <vt:lpstr>Cahier des charges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Yoann DE CLER</cp:lastModifiedBy>
  <cp:revision>9</cp:revision>
  <dcterms:modified xsi:type="dcterms:W3CDTF">2026-06-10T08:20:41Z</dcterms:modified>
</cp:coreProperties>
</file>